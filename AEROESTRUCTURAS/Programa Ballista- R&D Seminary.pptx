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9" autoAdjust="0"/>
    <p:restoredTop sz="93898" autoAdjust="0"/>
  </p:normalViewPr>
  <p:slideViewPr>
    <p:cSldViewPr snapToGrid="0">
      <p:cViewPr varScale="1">
        <p:scale>
          <a:sx n="58" d="100"/>
          <a:sy n="58" d="100"/>
        </p:scale>
        <p:origin x="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3E7E9-0B4C-4599-8387-854B68DD1F3F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8F327-BEE5-45AC-9CE6-84AF0ACB14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953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Workshop por la tarde -&gt; es mas</a:t>
            </a:r>
            <a:r>
              <a:rPr lang="es-MX" baseline="0" dirty="0"/>
              <a:t> como un “taller para entrenamiento” tipo laboratorio y </a:t>
            </a:r>
            <a:r>
              <a:rPr lang="es-MX" baseline="0" dirty="0" err="1"/>
              <a:t>tmb</a:t>
            </a:r>
            <a:r>
              <a:rPr lang="es-MX" baseline="0" dirty="0"/>
              <a:t> vemos ejercicios </a:t>
            </a:r>
          </a:p>
          <a:p>
            <a:r>
              <a:rPr lang="es-MX" baseline="0" dirty="0"/>
              <a:t>Seminario por la mañana -&gt; vemos la teoría con un poco más de profundidad de porque suceden los fenómenos pero de manera condensada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5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Antecedentes:</a:t>
            </a:r>
            <a:r>
              <a:rPr lang="es-ES" dirty="0"/>
              <a:t> Cuenta la historia y el contexto </a:t>
            </a:r>
          </a:p>
          <a:p>
            <a:r>
              <a:rPr lang="es-ES" b="1" dirty="0"/>
              <a:t>Marco Teórico:</a:t>
            </a:r>
            <a:r>
              <a:rPr lang="es-ES" dirty="0"/>
              <a:t> Explica los conceptos y teorías </a:t>
            </a:r>
          </a:p>
          <a:p>
            <a:r>
              <a:rPr lang="es-ES" b="1" dirty="0"/>
              <a:t>Estado del Arte:</a:t>
            </a:r>
            <a:r>
              <a:rPr lang="es-ES" dirty="0"/>
              <a:t> Analiza qué se ha investigado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7959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7207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675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512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067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436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085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037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47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709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439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9498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517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BDDA2F0-ADA3-4A09-A4A4-0854B4A15306}" type="datetimeFigureOut">
              <a:rPr lang="es-MX" smtClean="0"/>
              <a:t>17/12/2025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443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ítulo 2">
            <a:extLst>
              <a:ext uri="{FF2B5EF4-FFF2-40B4-BE49-F238E27FC236}">
                <a16:creationId xmlns:a16="http://schemas.microsoft.com/office/drawing/2014/main" xmlns="" id="{ECC718EC-22DC-2FC1-E7BF-660F4465FB20}"/>
              </a:ext>
            </a:extLst>
          </p:cNvPr>
          <p:cNvSpPr txBox="1">
            <a:spLocks/>
          </p:cNvSpPr>
          <p:nvPr/>
        </p:nvSpPr>
        <p:spPr>
          <a:xfrm>
            <a:off x="3429001" y="6608763"/>
            <a:ext cx="8763000" cy="2492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29 de mayo del 2025, Pedro de Alba S/N, Niños Héroes, Ciudad Universitaria, 66455 San Nicolás de los Garza, N.L.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7612" y="116410"/>
            <a:ext cx="11559548" cy="1392352"/>
            <a:chOff x="157612" y="116410"/>
            <a:chExt cx="11559548" cy="1392352"/>
          </a:xfrm>
        </p:grpSpPr>
        <p:pic>
          <p:nvPicPr>
            <p:cNvPr id="1028" name="Picture 4" descr="Uanl vector logo - Uanl logo vector free download">
              <a:extLst>
                <a:ext uri="{FF2B5EF4-FFF2-40B4-BE49-F238E27FC236}">
                  <a16:creationId xmlns:a16="http://schemas.microsoft.com/office/drawing/2014/main" xmlns="" id="{A1EF89F4-4576-B62D-20F9-D2FF8A2E24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612" y="116410"/>
              <a:ext cx="1392352" cy="1392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/>
            <p:cNvGrpSpPr/>
            <p:nvPr/>
          </p:nvGrpSpPr>
          <p:grpSpPr>
            <a:xfrm>
              <a:off x="8130749" y="358129"/>
              <a:ext cx="3586411" cy="1150632"/>
              <a:chOff x="8167607" y="358129"/>
              <a:chExt cx="3586411" cy="1150632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xmlns="" id="{7618CDC3-6984-FA21-1D90-EF5639665330}"/>
                  </a:ext>
                </a:extLst>
              </p:cNvPr>
              <p:cNvGrpSpPr/>
              <p:nvPr/>
            </p:nvGrpSpPr>
            <p:grpSpPr>
              <a:xfrm>
                <a:off x="9418206" y="358577"/>
                <a:ext cx="2335812" cy="1150184"/>
                <a:chOff x="1684479" y="280948"/>
                <a:chExt cx="2491447" cy="1227814"/>
              </a:xfrm>
            </p:grpSpPr>
            <p:pic>
              <p:nvPicPr>
                <p:cNvPr id="1034" name="Picture 10" descr="Universidad Autónoma de Nuevo León">
                  <a:extLst>
                    <a:ext uri="{FF2B5EF4-FFF2-40B4-BE49-F238E27FC236}">
                      <a16:creationId xmlns:a16="http://schemas.microsoft.com/office/drawing/2014/main" xmlns="" id="{614962FF-F8BC-8C60-D531-371C411ED90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40187" y="324724"/>
                  <a:ext cx="1135739" cy="113573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6" name="Picture 12" descr="Fisico Matematico Logo Símbolos Coloridos De La Matemáticas 3d Stock">
                  <a:extLst>
                    <a:ext uri="{FF2B5EF4-FFF2-40B4-BE49-F238E27FC236}">
                      <a16:creationId xmlns:a16="http://schemas.microsoft.com/office/drawing/2014/main" xmlns="" id="{9DCF93C1-4712-9517-4CC0-A6074B26C4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322" b="16922"/>
                <a:stretch/>
              </p:blipFill>
              <p:spPr bwMode="auto">
                <a:xfrm>
                  <a:off x="1684479" y="280948"/>
                  <a:ext cx="1195229" cy="122781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4906" b="98868" l="3774" r="94717">
                            <a14:foregroundMark x1="56981" y1="16981" x2="56981" y2="16981"/>
                            <a14:foregroundMark x1="50189" y1="12830" x2="24151" y2="25283"/>
                            <a14:foregroundMark x1="62642" y1="14340" x2="17358" y2="37358"/>
                            <a14:foregroundMark x1="17358" y1="37358" x2="25660" y2="85283"/>
                            <a14:foregroundMark x1="25660" y1="85283" x2="81509" y2="70943"/>
                            <a14:foregroundMark x1="81509" y1="70943" x2="83774" y2="36981"/>
                            <a14:foregroundMark x1="64528" y1="21132" x2="18113" y2="27925"/>
                            <a14:foregroundMark x1="18113" y1="27925" x2="14340" y2="73962"/>
                            <a14:foregroundMark x1="14340" y1="73962" x2="66038" y2="87925"/>
                            <a14:foregroundMark x1="66038" y1="87925" x2="93962" y2="43019"/>
                            <a14:foregroundMark x1="93962" y1="43019" x2="57358" y2="9057"/>
                            <a14:foregroundMark x1="57358" y1="9057" x2="49434" y2="8679"/>
                            <a14:foregroundMark x1="29057" y1="9434" x2="75849" y2="21132"/>
                            <a14:foregroundMark x1="75849" y1="21132" x2="92075" y2="64151"/>
                            <a14:foregroundMark x1="30943" y1="10189" x2="63396" y2="10943"/>
                            <a14:foregroundMark x1="65283" y1="8679" x2="31698" y2="6038"/>
                            <a14:foregroundMark x1="15849" y1="30566" x2="18113" y2="68302"/>
                            <a14:foregroundMark x1="11321" y1="66415" x2="12453" y2="31321"/>
                            <a14:foregroundMark x1="10566" y1="30566" x2="9811" y2="67547"/>
                            <a14:foregroundMark x1="9057" y1="71698" x2="9057" y2="32830"/>
                            <a14:foregroundMark x1="8302" y1="34717" x2="13962" y2="65660"/>
                            <a14:foregroundMark x1="6415" y1="67547" x2="6415" y2="35472"/>
                            <a14:foregroundMark x1="5660" y1="36981" x2="17358" y2="71698"/>
                            <a14:foregroundMark x1="63396" y1="64906" x2="58491" y2="55472"/>
                            <a14:foregroundMark x1="54340" y1="43774" x2="44151" y2="46415"/>
                            <a14:foregroundMark x1="47547" y1="42264" x2="47547" y2="73962"/>
                            <a14:foregroundMark x1="59245" y1="70566" x2="56981" y2="69811"/>
                            <a14:foregroundMark x1="70943" y1="58868" x2="64528" y2="23019"/>
                            <a14:foregroundMark x1="61887" y1="5283" x2="62642" y2="9434"/>
                            <a14:foregroundMark x1="22264" y1="16981" x2="3774" y2="49057"/>
                            <a14:foregroundMark x1="73585" y1="90943" x2="29434" y2="86792"/>
                            <a14:foregroundMark x1="29434" y1="86792" x2="29057" y2="86038"/>
                            <a14:foregroundMark x1="24151" y1="89057" x2="60377" y2="90189"/>
                            <a14:foregroundMark x1="66038" y1="84151" x2="41887" y2="83396"/>
                            <a14:foregroundMark x1="41887" y1="92453" x2="52830" y2="99245"/>
                            <a14:foregroundMark x1="89434" y1="60755" x2="91321" y2="36981"/>
                            <a14:foregroundMark x1="87170" y1="34717" x2="89434" y2="67547"/>
                            <a14:foregroundMark x1="87925" y1="69811" x2="87170" y2="39623"/>
                            <a14:foregroundMark x1="90566" y1="36981" x2="90566" y2="63019"/>
                            <a14:foregroundMark x1="92075" y1="53962" x2="94717" y2="53962"/>
                            <a14:foregroundMark x1="63396" y1="38113" x2="13585" y2="57736"/>
                            <a14:foregroundMark x1="13585" y1="57736" x2="29057" y2="53962"/>
                            <a14:foregroundMark x1="39245" y1="33962" x2="66038" y2="30566"/>
                            <a14:foregroundMark x1="60377" y1="36226" x2="79623" y2="31321"/>
                            <a14:foregroundMark x1="68679" y1="23019" x2="75472" y2="73962"/>
                            <a14:foregroundMark x1="75472" y1="45660" x2="76226" y2="47170"/>
                            <a14:foregroundMark x1="76226" y1="38868" x2="73585" y2="27170"/>
                            <a14:foregroundMark x1="73585" y1="26415" x2="75472" y2="53208"/>
                            <a14:foregroundMark x1="62642" y1="64906" x2="70189" y2="73208"/>
                            <a14:foregroundMark x1="72075" y1="61509" x2="51698" y2="78491"/>
                            <a14:foregroundMark x1="65283" y1="60755" x2="56981" y2="80755"/>
                            <a14:foregroundMark x1="52830" y1="65660" x2="46792" y2="78491"/>
                            <a14:foregroundMark x1="48302" y1="65660" x2="57736" y2="60000"/>
                            <a14:foregroundMark x1="46038" y1="65660" x2="27547" y2="75849"/>
                            <a14:foregroundMark x1="41887" y1="44528" x2="16604" y2="46415"/>
                            <a14:foregroundMark x1="24151" y1="41509" x2="40000" y2="36226"/>
                            <a14:foregroundMark x1="40755" y1="34717" x2="25660" y2="4452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67607" y="358129"/>
                <a:ext cx="1100145" cy="1099565"/>
              </a:xfrm>
              <a:prstGeom prst="rect">
                <a:avLst/>
              </a:prstGeom>
            </p:spPr>
          </p:pic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EF8233C-F3DA-2ABC-9288-4BCD74333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0495"/>
            <a:ext cx="9144000" cy="2389822"/>
          </a:xfrm>
        </p:spPr>
        <p:txBody>
          <a:bodyPr>
            <a:noAutofit/>
          </a:bodyPr>
          <a:lstStyle/>
          <a:p>
            <a:r>
              <a:rPr lang="es-MX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DYNX - HPRT</a:t>
            </a:r>
            <a:br>
              <a:rPr lang="es-MX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R&amp;D - Ballista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C6C3CBE-087A-6EFC-794A-BF6D55DB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8941"/>
            <a:ext cx="9144000" cy="1655762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</a:pPr>
            <a:r>
              <a:rPr lang="es-MX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Seminario técnico</a:t>
            </a:r>
          </a:p>
          <a:p>
            <a:pPr>
              <a:spcBef>
                <a:spcPct val="0"/>
              </a:spcBef>
            </a:pPr>
            <a:r>
              <a:rPr lang="es-ES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Diseño y manufactura de vehículos lanzadores</a:t>
            </a:r>
            <a:endParaRPr lang="es-MX" sz="4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3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C97405F-E812-8ECA-0FBF-DE395633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4895F9A4-5583-A4D7-2C26-2C99E36A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76762"/>
          </a:xfrm>
        </p:spPr>
        <p:txBody>
          <a:bodyPr>
            <a:no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s-MX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US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Antecedentes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1. </a:t>
            </a:r>
            <a:r>
              <a:rPr lang="es-MX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drivers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2.  Teoría de toberas y relaciones termodinámicas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3. MCS (SRM) términos y fundamentos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4. Combustión y </a:t>
            </a:r>
            <a:r>
              <a:rPr lang="es-MX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propelentes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5.MCS componentes y diseño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Modulo 6, Caso de estudio e introducción al Workshop</a:t>
            </a:r>
          </a:p>
        </p:txBody>
      </p:sp>
    </p:spTree>
    <p:extLst>
      <p:ext uri="{BB962C8B-B14F-4D97-AF65-F5344CB8AC3E}">
        <p14:creationId xmlns:p14="http://schemas.microsoft.com/office/powerpoint/2010/main" val="273919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30D5EE9-6E7E-80B8-FCFF-8881747CDF7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5000"/>
                    </a14:imgEffect>
                  </a14:imgLayer>
                </a14:imgProps>
              </a:ext>
            </a:extLst>
          </a:blip>
          <a:srcRect l="764" r="1192"/>
          <a:stretch>
            <a:fillRect/>
          </a:stretch>
        </p:blipFill>
        <p:spPr>
          <a:xfrm>
            <a:off x="119249" y="36789"/>
            <a:ext cx="11953502" cy="6837201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70F0C23-FE50-8839-B107-C21CD545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>
            <a:noAutofit/>
          </a:bodyPr>
          <a:lstStyle/>
          <a:p>
            <a:r>
              <a:rPr lang="es-MX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US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3D773A57-4E75-6D1E-BD6A-ACA49DF5A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1965"/>
            <a:ext cx="5479473" cy="48649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Problemática </a:t>
            </a:r>
          </a:p>
          <a:p>
            <a:pPr marL="0" indent="0">
              <a:buNone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performance del vehículo se puede ver afectado en condiciones de vuelo, ya que la caracterización del motor es no instalado. </a:t>
            </a:r>
            <a:endParaRPr lang="es-MX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Solución</a:t>
            </a:r>
          </a:p>
          <a:p>
            <a:pPr marL="0" indent="0">
              <a:buNone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Estudio teórico y experimental modelando el comportamiento de los gases de combustión ante rotaciones y aceleraciones muy altas.</a:t>
            </a:r>
          </a:p>
          <a:p>
            <a:pPr marL="0" indent="0">
              <a:buNone/>
            </a:pPr>
            <a:endParaRPr lang="es-MX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10412" y="6176963"/>
            <a:ext cx="11571176" cy="500601"/>
            <a:chOff x="157612" y="116410"/>
            <a:chExt cx="11571176" cy="1552867"/>
          </a:xfrm>
        </p:grpSpPr>
        <p:pic>
          <p:nvPicPr>
            <p:cNvPr id="6" name="Picture 4" descr="Uanl vector logo - Uanl logo vector free download">
              <a:extLst>
                <a:ext uri="{FF2B5EF4-FFF2-40B4-BE49-F238E27FC236}">
                  <a16:creationId xmlns:a16="http://schemas.microsoft.com/office/drawing/2014/main" xmlns="" id="{A1EF89F4-4576-B62D-20F9-D2FF8A2E24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612" y="116410"/>
              <a:ext cx="530134" cy="1392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9757446" y="245844"/>
              <a:ext cx="1971342" cy="1423433"/>
              <a:chOff x="9794304" y="245844"/>
              <a:chExt cx="1971342" cy="1423433"/>
            </a:xfrm>
          </p:grpSpPr>
          <p:grpSp>
            <p:nvGrpSpPr>
              <p:cNvPr id="8" name="Grupo 13">
                <a:extLst>
                  <a:ext uri="{FF2B5EF4-FFF2-40B4-BE49-F238E27FC236}">
                    <a16:creationId xmlns:a16="http://schemas.microsoft.com/office/drawing/2014/main" xmlns="" id="{7618CDC3-6984-FA21-1D90-EF5639665330}"/>
                  </a:ext>
                </a:extLst>
              </p:cNvPr>
              <p:cNvGrpSpPr/>
              <p:nvPr/>
            </p:nvGrpSpPr>
            <p:grpSpPr>
              <a:xfrm>
                <a:off x="10448941" y="245844"/>
                <a:ext cx="1316705" cy="1423433"/>
                <a:chOff x="2783891" y="160607"/>
                <a:chExt cx="1404437" cy="1519505"/>
              </a:xfrm>
            </p:grpSpPr>
            <p:pic>
              <p:nvPicPr>
                <p:cNvPr id="10" name="Picture 10" descr="Universidad Autónoma de Nuevo León">
                  <a:extLst>
                    <a:ext uri="{FF2B5EF4-FFF2-40B4-BE49-F238E27FC236}">
                      <a16:creationId xmlns:a16="http://schemas.microsoft.com/office/drawing/2014/main" xmlns="" id="{614962FF-F8BC-8C60-D531-371C411ED90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518502" y="217579"/>
                  <a:ext cx="669826" cy="140555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" name="Picture 12" descr="Fisico Matematico Logo Símbolos Coloridos De La Matemáticas 3d Stock">
                  <a:extLst>
                    <a:ext uri="{FF2B5EF4-FFF2-40B4-BE49-F238E27FC236}">
                      <a16:creationId xmlns:a16="http://schemas.microsoft.com/office/drawing/2014/main" xmlns="" id="{9DCF93C1-4712-9517-4CC0-A6074B26C4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1322" b="16922"/>
                <a:stretch/>
              </p:blipFill>
              <p:spPr bwMode="auto">
                <a:xfrm>
                  <a:off x="2783891" y="160607"/>
                  <a:ext cx="561731" cy="151950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94304" y="255116"/>
                <a:ext cx="479121" cy="1360785"/>
              </a:xfrm>
              <a:prstGeom prst="rect">
                <a:avLst/>
              </a:prstGeom>
            </p:spPr>
          </p:pic>
        </p:grpSp>
      </p:grpSp>
      <p:sp>
        <p:nvSpPr>
          <p:cNvPr id="14" name="TextBox 13"/>
          <p:cNvSpPr txBox="1"/>
          <p:nvPr/>
        </p:nvSpPr>
        <p:spPr>
          <a:xfrm>
            <a:off x="7165571" y="1073426"/>
            <a:ext cx="1379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Imagen de un cohete en </a:t>
            </a:r>
            <a:r>
              <a:rPr lang="es-419" dirty="0" err="1"/>
              <a:t>mov</a:t>
            </a:r>
            <a:r>
              <a:rPr lang="es-419" dirty="0"/>
              <a:t> SRM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448290" y="3235044"/>
            <a:ext cx="1379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Imagen de una prueba </a:t>
            </a:r>
            <a:r>
              <a:rPr lang="es-419" dirty="0" err="1"/>
              <a:t>estatica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0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AB3C702-D01F-22C8-A53B-ED6B01BB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Antecedentes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2D8CD9DD-E26B-97A0-50D8-9A66444B9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7038703" cy="474004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primeros SRM (motores de cohete de combustible sólido) fueron usados por los chinos hace 2000 años en fuegos artificiales.</a:t>
            </a:r>
          </a:p>
          <a:p>
            <a:pPr marL="514350" indent="-514350">
              <a:buFont typeface="+mj-lt"/>
              <a:buAutoNum type="romanU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Poca precisión debido a la falta de buenos propelentes.</a:t>
            </a:r>
          </a:p>
          <a:p>
            <a:pPr marL="514350" indent="-514350">
              <a:buFont typeface="+mj-lt"/>
              <a:buAutoNum type="romanU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1890 y 1940, los propelentes sólidos (SP) fueron considerados para vuelos espaciales, pero se desarrolló un progreso más significativo durante la Segunda Guerra Mundial.</a:t>
            </a:r>
          </a:p>
          <a:p>
            <a:pPr marL="514350" indent="-514350">
              <a:buFont typeface="+mj-lt"/>
              <a:buAutoNum type="romanUcPeriod"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propulsión de cohetes sólidos moderna comenzó cuando Jack Parsons inventó el SRM compuesto moldeable (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castable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composite) en 1942.</a:t>
            </a:r>
            <a:endParaRPr lang="es-MX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Organizaciones certificadoras</a:t>
            </a:r>
          </a:p>
          <a:p>
            <a:pPr marL="0" indent="0">
              <a:buNone/>
            </a:pPr>
            <a:endParaRPr lang="es-MX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Competencias relevantes</a:t>
            </a:r>
          </a:p>
          <a:p>
            <a:pPr marL="0" indent="0">
              <a:buNone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612325" y="1278326"/>
            <a:ext cx="6844254" cy="4315097"/>
          </a:xfrm>
          <a:prstGeom prst="rect">
            <a:avLst/>
          </a:prstGeom>
        </p:spPr>
      </p:pic>
      <p:pic>
        <p:nvPicPr>
          <p:cNvPr id="1029" name="Picture 5" descr="https://upload.wikimedia.org/wikipedia/commons/thumb/c/ca/Tripoli-rocketry-association.svg/250px-Tripoli-rocketry-association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484" y="4666639"/>
            <a:ext cx="1578732" cy="78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https://upload.wikimedia.org/wikipedia/commons/thumb/a/a9/National-association-of-rocketry.svg/250px-National-association-of-rocketry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27" y="4783349"/>
            <a:ext cx="644440" cy="67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https://upload.wikimedia.org/wikipedia/commons/thumb/c/c8/Seal_of_the_United_States_Federal_Aviation_Administration.svg/250px-Seal_of_the_United_States_Federal_Aviation_Administration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467" y="4623294"/>
            <a:ext cx="764836" cy="76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UKRA Log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927" y="5273672"/>
            <a:ext cx="617761" cy="61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Spaceport Americ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521" y="6008429"/>
            <a:ext cx="2057824" cy="57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Pictur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183" y="5407656"/>
            <a:ext cx="2351780" cy="60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5618" y="5768695"/>
            <a:ext cx="706002" cy="907716"/>
          </a:xfrm>
          <a:prstGeom prst="rect">
            <a:avLst/>
          </a:prstGeom>
        </p:spPr>
      </p:pic>
      <p:pic>
        <p:nvPicPr>
          <p:cNvPr id="1041" name="Picture 17" descr="Latin American Space Challenge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429" y="5708042"/>
            <a:ext cx="695196" cy="69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14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1766</TotalTime>
  <Words>308</Words>
  <Application>Microsoft Office PowerPoint</Application>
  <PresentationFormat>Widescreen</PresentationFormat>
  <Paragraphs>38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DYNX - HPRT R&amp;D - Ballista</vt:lpstr>
      <vt:lpstr>Agenda</vt:lpstr>
      <vt:lpstr>Meeting US</vt:lpstr>
      <vt:lpstr>Antecedentes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DYNX - HPRT R&amp;D - Propulsión Programa Flammam</dc:title>
  <dc:creator>DIEGO RUBEN RODRIGUEZ AGUILERA</dc:creator>
  <cp:lastModifiedBy>Leonardo Valadez Ortiz</cp:lastModifiedBy>
  <cp:revision>50</cp:revision>
  <dcterms:created xsi:type="dcterms:W3CDTF">2025-05-21T21:17:18Z</dcterms:created>
  <dcterms:modified xsi:type="dcterms:W3CDTF">2025-12-17T14:47:36Z</dcterms:modified>
</cp:coreProperties>
</file>